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25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9" y="3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0FE5C-6B16-4434-BE9B-09C6E6B43CF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AA2E8-7169-414F-9C48-A2D526AF01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86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表示学习（</a:t>
            </a:r>
            <a:r>
              <a:rPr lang="en-US" altLang="zh-CN" b="1" dirty="0"/>
              <a:t>Representation Learning</a:t>
            </a:r>
            <a:r>
              <a:rPr lang="zh-CN" altLang="en-US" b="1" dirty="0"/>
              <a:t>），</a:t>
            </a:r>
            <a:r>
              <a:rPr lang="zh-CN" altLang="en-US" dirty="0"/>
              <a:t>用于把文本转成可计算的向量</a:t>
            </a:r>
            <a:r>
              <a:rPr lang="en-US" altLang="zh-CN" dirty="0"/>
              <a:t>/</a:t>
            </a:r>
            <a:r>
              <a:rPr lang="zh-CN" altLang="en-US" dirty="0"/>
              <a:t>概率表示，属于“表征生成层”。</a:t>
            </a:r>
          </a:p>
          <a:p>
            <a:endParaRPr lang="en-US" altLang="zh-CN" b="1" dirty="0"/>
          </a:p>
          <a:p>
            <a:r>
              <a:rPr lang="zh-CN" altLang="en-US" b="1" dirty="0"/>
              <a:t>词</a:t>
            </a:r>
            <a:r>
              <a:rPr lang="en-US" altLang="zh-CN" b="1" dirty="0"/>
              <a:t>/</a:t>
            </a:r>
            <a:r>
              <a:rPr lang="zh-CN" altLang="en-US" b="1" dirty="0"/>
              <a:t>子词</a:t>
            </a:r>
            <a:r>
              <a:rPr lang="en-US" altLang="zh-CN" b="1" dirty="0"/>
              <a:t>/</a:t>
            </a:r>
            <a:r>
              <a:rPr lang="zh-CN" altLang="en-US" b="1" dirty="0"/>
              <a:t>文档向量</a:t>
            </a:r>
            <a:endParaRPr lang="zh-CN" altLang="en-US" dirty="0"/>
          </a:p>
          <a:p>
            <a:pPr lvl="1"/>
            <a:r>
              <a:rPr lang="en-US" altLang="zh-CN" dirty="0"/>
              <a:t>Word2Vec</a:t>
            </a:r>
            <a:r>
              <a:rPr lang="zh-CN" altLang="en-US" dirty="0"/>
              <a:t>（</a:t>
            </a:r>
            <a:r>
              <a:rPr lang="en-US" altLang="zh-CN" dirty="0"/>
              <a:t>CBOW/Skip-gram</a:t>
            </a:r>
            <a:r>
              <a:rPr lang="zh-CN" altLang="en-US" dirty="0"/>
              <a:t>，负采样</a:t>
            </a:r>
            <a:r>
              <a:rPr lang="en-US" altLang="zh-CN" dirty="0"/>
              <a:t>/HS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 err="1"/>
              <a:t>FastText</a:t>
            </a:r>
            <a:r>
              <a:rPr lang="zh-CN" altLang="en-US" dirty="0"/>
              <a:t>（字符 </a:t>
            </a:r>
            <a:r>
              <a:rPr lang="en-US" altLang="zh-CN" dirty="0"/>
              <a:t>n-gram </a:t>
            </a:r>
            <a:r>
              <a:rPr lang="zh-CN" altLang="en-US" dirty="0"/>
              <a:t>子词向量，</a:t>
            </a:r>
            <a:r>
              <a:rPr lang="en-US" altLang="zh-CN" dirty="0"/>
              <a:t>OOV </a:t>
            </a:r>
            <a:r>
              <a:rPr lang="zh-CN" altLang="en-US" dirty="0"/>
              <a:t>友好）</a:t>
            </a:r>
          </a:p>
          <a:p>
            <a:pPr lvl="1"/>
            <a:r>
              <a:rPr lang="en-US" altLang="zh-CN" dirty="0"/>
              <a:t>Doc2Vec</a:t>
            </a:r>
            <a:r>
              <a:rPr lang="zh-CN" altLang="en-US" dirty="0"/>
              <a:t>（</a:t>
            </a:r>
            <a:r>
              <a:rPr lang="en-US" altLang="zh-CN" dirty="0"/>
              <a:t>PV-DM / PV-DBOW </a:t>
            </a:r>
            <a:r>
              <a:rPr lang="zh-CN" altLang="en-US" dirty="0"/>
              <a:t>文档</a:t>
            </a:r>
            <a:r>
              <a:rPr lang="en-US" altLang="zh-CN" dirty="0"/>
              <a:t>/</a:t>
            </a:r>
            <a:r>
              <a:rPr lang="zh-CN" altLang="en-US" dirty="0"/>
              <a:t>段落向量）</a:t>
            </a:r>
          </a:p>
          <a:p>
            <a:r>
              <a:rPr lang="zh-CN" altLang="en-US" b="1" dirty="0"/>
              <a:t>稀疏权重与线性语义空间</a:t>
            </a:r>
            <a:endParaRPr lang="zh-CN" altLang="en-US" dirty="0"/>
          </a:p>
          <a:p>
            <a:pPr lvl="1"/>
            <a:r>
              <a:rPr lang="en-US" altLang="zh-CN" dirty="0" err="1"/>
              <a:t>BoW</a:t>
            </a:r>
            <a:r>
              <a:rPr lang="zh-CN" altLang="en-US" dirty="0"/>
              <a:t>、</a:t>
            </a:r>
            <a:r>
              <a:rPr lang="en-US" altLang="zh-CN" dirty="0"/>
              <a:t>TF-IDF</a:t>
            </a:r>
          </a:p>
          <a:p>
            <a:pPr lvl="1"/>
            <a:r>
              <a:rPr lang="en-US" altLang="zh-CN" dirty="0"/>
              <a:t>LSI/LSA</a:t>
            </a:r>
            <a:r>
              <a:rPr lang="zh-CN" altLang="en-US" dirty="0"/>
              <a:t>（</a:t>
            </a:r>
            <a:r>
              <a:rPr lang="en-US" altLang="zh-CN" dirty="0"/>
              <a:t>SVD </a:t>
            </a:r>
            <a:r>
              <a:rPr lang="zh-CN" altLang="en-US" dirty="0"/>
              <a:t>投影）、随机投影（</a:t>
            </a:r>
            <a:r>
              <a:rPr lang="en-US" altLang="zh-CN" dirty="0"/>
              <a:t>RP</a:t>
            </a:r>
            <a:r>
              <a:rPr lang="zh-CN" altLang="en-US" dirty="0"/>
              <a:t>）</a:t>
            </a:r>
          </a:p>
          <a:p>
            <a:r>
              <a:rPr lang="zh-CN" altLang="en-US" b="1" dirty="0"/>
              <a:t>主题表示</a:t>
            </a:r>
            <a:endParaRPr lang="zh-CN" altLang="en-US" dirty="0"/>
          </a:p>
          <a:p>
            <a:pPr lvl="1"/>
            <a:r>
              <a:rPr lang="en-US" altLang="zh-CN" dirty="0"/>
              <a:t>LDA/HDP</a:t>
            </a:r>
            <a:r>
              <a:rPr lang="zh-CN" altLang="en-US" dirty="0"/>
              <a:t>（文档→主题分布、词→主题分布）</a:t>
            </a:r>
          </a:p>
          <a:p>
            <a:r>
              <a:rPr lang="zh-CN" altLang="en-US" b="1" dirty="0"/>
              <a:t>表征构件</a:t>
            </a:r>
            <a:r>
              <a:rPr lang="en-US" altLang="zh-CN" b="1" dirty="0"/>
              <a:t>/</a:t>
            </a:r>
            <a:r>
              <a:rPr lang="zh-CN" altLang="en-US" b="1" dirty="0"/>
              <a:t>变换</a:t>
            </a:r>
            <a:endParaRPr lang="zh-CN" altLang="en-US" dirty="0"/>
          </a:p>
          <a:p>
            <a:pPr lvl="1"/>
            <a:r>
              <a:rPr lang="en-US" altLang="zh-CN" dirty="0"/>
              <a:t>Phrases</a:t>
            </a:r>
            <a:r>
              <a:rPr lang="zh-CN" altLang="en-US" dirty="0"/>
              <a:t>（双</a:t>
            </a:r>
            <a:r>
              <a:rPr lang="en-US" altLang="zh-CN" dirty="0"/>
              <a:t>/</a:t>
            </a:r>
            <a:r>
              <a:rPr lang="zh-CN" altLang="en-US" dirty="0"/>
              <a:t>三元搭配发现，升级 </a:t>
            </a:r>
            <a:r>
              <a:rPr lang="en-US" altLang="zh-CN" dirty="0"/>
              <a:t>token </a:t>
            </a:r>
            <a:r>
              <a:rPr lang="zh-CN" altLang="en-US" dirty="0"/>
              <a:t>粒度）</a:t>
            </a:r>
          </a:p>
          <a:p>
            <a:pPr lvl="1"/>
            <a:r>
              <a:rPr lang="en-US" altLang="zh-CN" dirty="0" err="1"/>
              <a:t>KeyedVectors</a:t>
            </a:r>
            <a:r>
              <a:rPr lang="zh-CN" altLang="en-US" dirty="0"/>
              <a:t>（仅加载</a:t>
            </a:r>
            <a:r>
              <a:rPr lang="en-US" altLang="zh-CN" dirty="0"/>
              <a:t>/</a:t>
            </a:r>
            <a:r>
              <a:rPr lang="zh-CN" altLang="en-US" dirty="0"/>
              <a:t>操作预训练向量，归一化</a:t>
            </a:r>
            <a:r>
              <a:rPr lang="en-US" altLang="zh-CN" dirty="0"/>
              <a:t>/</a:t>
            </a:r>
            <a:r>
              <a:rPr lang="zh-CN" altLang="en-US" dirty="0"/>
              <a:t>对齐）</a:t>
            </a:r>
          </a:p>
          <a:p>
            <a:pPr lvl="1"/>
            <a:r>
              <a:rPr lang="zh-CN" altLang="en-US" dirty="0"/>
              <a:t>各类向量管道变换（归一化、均值</a:t>
            </a:r>
            <a:r>
              <a:rPr lang="en-US" altLang="zh-CN" dirty="0"/>
              <a:t>/</a:t>
            </a:r>
            <a:r>
              <a:rPr lang="zh-CN" altLang="en-US" dirty="0"/>
              <a:t>加权汇聚、在线更新）</a:t>
            </a:r>
          </a:p>
          <a:p>
            <a:endParaRPr lang="en-US" altLang="zh-CN" b="1" dirty="0"/>
          </a:p>
          <a:p>
            <a:r>
              <a:rPr lang="zh-CN" altLang="en-US" b="1" dirty="0"/>
              <a:t>应用层能力（</a:t>
            </a:r>
            <a:r>
              <a:rPr lang="en-US" altLang="zh-CN" b="1" dirty="0"/>
              <a:t>Application-Level Capabilities</a:t>
            </a:r>
            <a:r>
              <a:rPr lang="zh-CN" altLang="en-US" b="1" dirty="0"/>
              <a:t>），</a:t>
            </a:r>
            <a:r>
              <a:rPr lang="zh-CN" altLang="en-US" dirty="0"/>
              <a:t>在已有表示之上做检索、比较、评测与管道管理，属于“使用层”。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相似度与检索</a:t>
            </a:r>
            <a:endParaRPr lang="zh-CN" altLang="en-US" dirty="0"/>
          </a:p>
          <a:p>
            <a:pPr lvl="1"/>
            <a:r>
              <a:rPr lang="en-US" altLang="zh-CN" dirty="0"/>
              <a:t>similarities </a:t>
            </a:r>
            <a:r>
              <a:rPr lang="zh-CN" altLang="en-US" dirty="0"/>
              <a:t>模块（稀疏</a:t>
            </a:r>
            <a:r>
              <a:rPr lang="en-US" altLang="zh-CN" dirty="0"/>
              <a:t>/</a:t>
            </a:r>
            <a:r>
              <a:rPr lang="zh-CN" altLang="en-US" dirty="0"/>
              <a:t>稠密向量索引、相似度计算）</a:t>
            </a:r>
          </a:p>
          <a:p>
            <a:pPr lvl="1"/>
            <a:r>
              <a:rPr lang="en-US" altLang="zh-CN" dirty="0" err="1"/>
              <a:t>SoftCosineSimilarity</a:t>
            </a:r>
            <a:r>
              <a:rPr lang="zh-CN" altLang="en-US" dirty="0"/>
              <a:t>、</a:t>
            </a:r>
            <a:r>
              <a:rPr lang="en-US" altLang="zh-CN" dirty="0"/>
              <a:t>Word Mover’s Distance</a:t>
            </a:r>
            <a:r>
              <a:rPr lang="zh-CN" altLang="en-US" dirty="0"/>
              <a:t>（</a:t>
            </a:r>
            <a:r>
              <a:rPr lang="en-US" altLang="zh-CN" dirty="0"/>
              <a:t>WMD</a:t>
            </a:r>
            <a:r>
              <a:rPr lang="zh-CN" altLang="en-US" dirty="0"/>
              <a:t>）文档距离</a:t>
            </a:r>
          </a:p>
          <a:p>
            <a:pPr lvl="1"/>
            <a:r>
              <a:rPr lang="zh-CN" altLang="en-US" dirty="0"/>
              <a:t>近重复检测、</a:t>
            </a:r>
            <a:r>
              <a:rPr lang="en-US" altLang="zh-CN" dirty="0"/>
              <a:t>Top-k </a:t>
            </a:r>
            <a:r>
              <a:rPr lang="zh-CN" altLang="en-US" dirty="0"/>
              <a:t>相似检索</a:t>
            </a:r>
          </a:p>
          <a:p>
            <a:r>
              <a:rPr lang="zh-CN" altLang="en-US" b="1" dirty="0"/>
              <a:t>主题与模型服务</a:t>
            </a:r>
            <a:endParaRPr lang="zh-CN" altLang="en-US" dirty="0"/>
          </a:p>
          <a:p>
            <a:pPr lvl="1"/>
            <a:r>
              <a:rPr lang="zh-CN" altLang="en-US" dirty="0"/>
              <a:t>主题推断（对新文档做 </a:t>
            </a:r>
            <a:r>
              <a:rPr lang="en-US" altLang="zh-CN" dirty="0"/>
              <a:t>topic </a:t>
            </a:r>
            <a:r>
              <a:rPr lang="zh-CN" altLang="en-US" dirty="0"/>
              <a:t>分布）</a:t>
            </a:r>
          </a:p>
          <a:p>
            <a:pPr lvl="1"/>
            <a:r>
              <a:rPr lang="zh-CN" altLang="en-US" dirty="0"/>
              <a:t>主题一致性指标（</a:t>
            </a:r>
            <a:r>
              <a:rPr lang="en-US" altLang="zh-CN" dirty="0"/>
              <a:t>coherence</a:t>
            </a:r>
            <a:r>
              <a:rPr lang="zh-CN" altLang="en-US" dirty="0"/>
              <a:t>）与模型诊断</a:t>
            </a:r>
          </a:p>
          <a:p>
            <a:r>
              <a:rPr lang="zh-CN" altLang="en-US" b="1" dirty="0"/>
              <a:t>内在评测</a:t>
            </a:r>
            <a:endParaRPr lang="zh-CN" altLang="en-US" dirty="0"/>
          </a:p>
          <a:p>
            <a:pPr lvl="1"/>
            <a:r>
              <a:rPr lang="zh-CN" altLang="en-US" dirty="0"/>
              <a:t>类比</a:t>
            </a:r>
            <a:r>
              <a:rPr lang="en-US" altLang="zh-CN" dirty="0"/>
              <a:t>/</a:t>
            </a:r>
            <a:r>
              <a:rPr lang="zh-CN" altLang="en-US" dirty="0"/>
              <a:t>相似度评测工具（向量空间质量评估）</a:t>
            </a:r>
          </a:p>
          <a:p>
            <a:r>
              <a:rPr lang="zh-CN" altLang="en-US" b="1" dirty="0"/>
              <a:t>数据与流水线基础设施</a:t>
            </a:r>
            <a:endParaRPr lang="zh-CN" altLang="en-US" dirty="0"/>
          </a:p>
          <a:p>
            <a:pPr lvl="1"/>
            <a:r>
              <a:rPr lang="zh-CN" altLang="en-US" dirty="0"/>
              <a:t>大语料</a:t>
            </a:r>
            <a:r>
              <a:rPr lang="zh-CN" altLang="en-US" b="1" dirty="0"/>
              <a:t>流式</a:t>
            </a:r>
            <a:r>
              <a:rPr lang="zh-CN" altLang="en-US" dirty="0"/>
              <a:t>读取</a:t>
            </a:r>
            <a:r>
              <a:rPr lang="en-US" altLang="zh-CN" dirty="0"/>
              <a:t>/</a:t>
            </a:r>
            <a:r>
              <a:rPr lang="zh-CN" altLang="en-US" dirty="0"/>
              <a:t>字典构建</a:t>
            </a:r>
            <a:r>
              <a:rPr lang="en-US" altLang="zh-CN" dirty="0"/>
              <a:t>/</a:t>
            </a:r>
            <a:r>
              <a:rPr lang="zh-CN" altLang="en-US" dirty="0"/>
              <a:t>稀疏语料对象</a:t>
            </a:r>
          </a:p>
          <a:p>
            <a:pPr lvl="1"/>
            <a:r>
              <a:rPr lang="zh-CN" altLang="en-US" dirty="0"/>
              <a:t>模型序列化、内存映射加载、在线训练</a:t>
            </a:r>
            <a:r>
              <a:rPr lang="en-US" altLang="zh-CN" dirty="0"/>
              <a:t>/</a:t>
            </a:r>
            <a:r>
              <a:rPr lang="zh-CN" altLang="en-US" dirty="0"/>
              <a:t>增量更新</a:t>
            </a:r>
          </a:p>
          <a:p>
            <a:pPr lvl="1"/>
            <a:r>
              <a:rPr lang="zh-CN" altLang="en-US" dirty="0"/>
              <a:t>与 </a:t>
            </a:r>
            <a:r>
              <a:rPr lang="en-US" altLang="zh-CN" dirty="0"/>
              <a:t>NumPy/Scikit-learn </a:t>
            </a:r>
            <a:r>
              <a:rPr lang="zh-CN" altLang="en-US" dirty="0"/>
              <a:t>友好衔接（分类</a:t>
            </a:r>
            <a:r>
              <a:rPr lang="en-US" altLang="zh-CN" dirty="0"/>
              <a:t>/</a:t>
            </a:r>
            <a:r>
              <a:rPr lang="zh-CN" altLang="en-US" dirty="0"/>
              <a:t>聚类通常依赖外部库）</a:t>
            </a:r>
          </a:p>
          <a:p>
            <a:endParaRPr lang="en-US" altLang="zh-CN" dirty="0"/>
          </a:p>
          <a:p>
            <a:r>
              <a:rPr lang="en-US" altLang="zh-CN" b="0" dirty="0" err="1"/>
              <a:t>Gensim</a:t>
            </a:r>
            <a:r>
              <a:rPr lang="en-US" altLang="zh-CN" b="0" dirty="0"/>
              <a:t> </a:t>
            </a:r>
            <a:r>
              <a:rPr lang="zh-CN" altLang="en-US" b="0" dirty="0"/>
              <a:t>不负责分词</a:t>
            </a:r>
            <a:r>
              <a:rPr lang="en-US" altLang="zh-CN" b="0" dirty="0"/>
              <a:t>/</a:t>
            </a:r>
            <a:r>
              <a:rPr lang="zh-CN" altLang="en-US" b="0" dirty="0"/>
              <a:t>词性</a:t>
            </a:r>
            <a:r>
              <a:rPr lang="en-US" altLang="zh-CN" b="0" dirty="0"/>
              <a:t>/</a:t>
            </a:r>
            <a:r>
              <a:rPr lang="zh-CN" altLang="en-US" b="0" dirty="0"/>
              <a:t>句法等传统 </a:t>
            </a:r>
            <a:r>
              <a:rPr lang="en-US" altLang="zh-CN" b="0" dirty="0"/>
              <a:t>NLP </a:t>
            </a:r>
            <a:r>
              <a:rPr lang="zh-CN" altLang="en-US" b="0" dirty="0"/>
              <a:t>预处理；不内置监督分类器或深度神经网络框架（分类</a:t>
            </a:r>
            <a:r>
              <a:rPr lang="en-US" altLang="zh-CN" b="0" dirty="0"/>
              <a:t>/</a:t>
            </a:r>
            <a:r>
              <a:rPr lang="zh-CN" altLang="en-US" b="0" dirty="0"/>
              <a:t>可视化等需配合 </a:t>
            </a:r>
            <a:r>
              <a:rPr lang="en-US" altLang="zh-CN" b="0" dirty="0" err="1"/>
              <a:t>sklearn</a:t>
            </a:r>
            <a:r>
              <a:rPr lang="en-US" altLang="zh-CN" b="0" dirty="0"/>
              <a:t>/</a:t>
            </a:r>
            <a:r>
              <a:rPr lang="en-US" altLang="zh-CN" b="0" dirty="0" err="1"/>
              <a:t>pyLDAvis</a:t>
            </a:r>
            <a:r>
              <a:rPr lang="en-US" altLang="zh-CN" b="0" dirty="0"/>
              <a:t> </a:t>
            </a:r>
            <a:r>
              <a:rPr lang="zh-CN" altLang="en-US" b="0" dirty="0"/>
              <a:t>等）；</a:t>
            </a:r>
          </a:p>
          <a:p>
            <a:r>
              <a:rPr lang="zh-CN" altLang="en-US" b="0" dirty="0"/>
              <a:t>其强项是：轻量可靠的表示学习 </a:t>
            </a:r>
            <a:r>
              <a:rPr lang="en-US" altLang="zh-CN" b="0" dirty="0"/>
              <a:t>+ </a:t>
            </a:r>
            <a:r>
              <a:rPr lang="zh-CN" altLang="en-US" b="0" dirty="0"/>
              <a:t>可扩展的相似度</a:t>
            </a:r>
            <a:r>
              <a:rPr lang="en-US" altLang="zh-CN" b="0" dirty="0"/>
              <a:t>/</a:t>
            </a:r>
            <a:r>
              <a:rPr lang="zh-CN" altLang="en-US" b="0" dirty="0"/>
              <a:t>主题管线。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663B6-F1FD-4337-B5B8-B2B1532D6F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9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453B3-89BF-4E9D-2E52-1A7724C31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B4FA12-4BC8-C87F-17E6-238607B9D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AA9CC8-EC9C-B1A1-A12B-9055C1CC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29385-4D45-E970-46BD-E9D77A30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0C61FD-216F-888A-8CC8-D0D059A3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3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B0BF3-FC90-4098-A0B8-ECFEB2D7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1AB3BB-EA74-8EFB-CDD6-5B3B2EB7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8357C-978B-B824-4F6E-67C9EEF1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60420-776A-18AA-3D71-AC027051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D7E5B-FCD0-4F89-9A93-EFFF2BE4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15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DE31E-371B-6A8F-7F8A-BB04914C3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0D74CC-A1A7-C651-52AC-DD714919B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50DE9A-4C94-57CB-7304-4B06573D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515C0-6590-F33C-56E0-C1347CD5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1204DA-0FA2-062E-C177-9F9A6AE2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18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09C67-C9C2-CFA4-8DC2-7914B1E1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A69B2-1975-F637-66C8-6CA718857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4D066D-3CD1-D4D4-9E32-D0CB66DFC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B9EDF7-8CD1-3247-AD1F-3BED77B1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45C03C-0DA4-5E7F-DA67-2BD88ECB4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2184FD-5539-AE28-8075-32926233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86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E5930-220A-0524-3791-00C71918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6EB868-6972-8BBD-5746-85B0D4E9B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3E3B8E-5DB0-1F15-CFAD-67A68971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080AF1-6795-2E48-B74A-75D39F1B2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79C770-5F0B-567A-893A-56D08B781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5BA012-9CDF-4ABE-DBB4-6F34AF4A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932338-EDE8-2AC8-5A89-81088AFB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BE8679-7A85-E186-B6A3-B242945D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49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9E279-EE5F-AC31-F77A-0CCCC226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74CA0A-E4FD-93B3-F63B-FA2DE5D7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87696C-72A1-8FE8-9F34-FA7EE2B8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BB984E-6DB8-110F-A79F-67BB745B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03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433ACB-5039-29EA-F69B-FBCDC207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651D29-1B7A-3F64-4D53-4F8E8E7A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4C8FC-BA57-7F75-F338-AC107670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43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4C5A6-CB35-349B-793F-71E3D161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B24E9-BD2C-31F9-38CA-940C4566D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51BB72-4AC8-64EA-3B74-D71980182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5A8817-FF23-9AB2-EEFB-373C3A2D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E54D8A-DFCB-7E71-FC1B-56680284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277D96-5B4E-DE47-0EBE-82CEE4FC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4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52F45-DF75-15BE-E971-56293CAB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47D140-985E-C486-6BCB-2D7A47726F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581F65-7E17-F5ED-0E97-1B75D98BB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8B5736-84A5-E527-1643-4C91A3C5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8E24FA-2C27-4924-ABEA-92E97437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43DAE-084A-B0A5-22C0-B0C78177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21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0EC2A-D9D1-8247-ECA8-7A2B0671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9CF88D-08DB-E212-5105-CDE223784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C8B35-78EF-4839-C5B5-A6895ED9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0CB29D-190D-D5E4-DFAA-5F80A0E5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8989E-71E2-9977-7E70-436D763C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14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5B7352-17E4-68B3-9846-F6069DBFD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5D4267-289A-1D7B-4D0B-328A0E03F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EA377-9950-D036-48EC-7DD48461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B63E67-FA3B-E18B-2CC0-F2098E1F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FCF40-DC4D-969D-E565-23510560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0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A699D5-30B1-D908-C41C-B3B3C44B0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063DAB-8B03-CA5B-E436-BBC46C58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3BEBBE-B333-031C-7A18-A735FD615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02A4D-3D87-4784-A733-FBA8CDAA152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BE51A-4C15-AE28-8A90-B8551469D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81BD8-EB34-B5A1-DE5A-0A3D880D9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DFCC3-6540-4B6E-9DE4-52D707359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94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adimrehurek.com/gensi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9463393-0DB4-1E32-C19A-80D44AC4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31" y="159583"/>
            <a:ext cx="11047423" cy="523239"/>
          </a:xfr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可选编程作业：用 </a:t>
            </a:r>
            <a:r>
              <a:rPr lang="en-US" altLang="zh-CN" sz="3200" b="1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跑表示学习 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&amp;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CN" sz="3200" b="1" dirty="0" err="1">
                <a:solidFill>
                  <a:schemeClr val="accent6">
                    <a:lumMod val="50000"/>
                  </a:schemeClr>
                </a:solidFill>
              </a:rPr>
              <a:t>FastText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</a:rPr>
              <a:t>文本分类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32216CD-A552-D0FF-8351-A27CC794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68045"/>
            <a:ext cx="11968480" cy="5989955"/>
          </a:xfr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访问官网，或者其他任何介绍</a:t>
            </a:r>
            <a:r>
              <a:rPr lang="en-US" altLang="zh-CN" sz="2400" b="1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的网站，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https://radimrehurek.com/gensim/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目标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上手 </a:t>
            </a:r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；了解它，并用它进行文本向量化表示学习的各种实验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训练 </a:t>
            </a:r>
            <a:r>
              <a:rPr lang="en-US" altLang="zh-CN" sz="2000" b="1" dirty="0" err="1">
                <a:solidFill>
                  <a:schemeClr val="accent6">
                    <a:lumMod val="50000"/>
                  </a:schemeClr>
                </a:solidFill>
              </a:rPr>
              <a:t>FastText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；基于向量完成一个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文本分类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小实验；读源码并对照论文要点。</a:t>
            </a: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数据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基本语料：自己寻找任意其他中英文本，最好是干净的类似新闻类文本进行表示学习的各种方法的实验。这类语料很多的，规模各不相同，但不要混杂噪音太大的其他类型语料）</a:t>
            </a: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分类数据：人民日报 </a:t>
            </a: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</a:rPr>
              <a:t>9801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语料（群里分享），自选标签</a:t>
            </a: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分类数量最好是由少到多，逐步展开实验。</a:t>
            </a:r>
          </a:p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工具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</a:rPr>
              <a:t>scikit-learn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jieba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（或你熟悉的分词器）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关键点：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基础要求：跑通全流程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进阶要求：读懂相关论文，对比</a:t>
            </a:r>
            <a:r>
              <a:rPr lang="en-US" altLang="zh-CN" sz="2000" dirty="0" err="1">
                <a:solidFill>
                  <a:schemeClr val="accent6">
                    <a:lumMod val="50000"/>
                  </a:schemeClr>
                </a:solidFill>
              </a:rPr>
              <a:t>Gensim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的实现方法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高级要求：尝试理解核心代码之外的周边代码，以及各类参数，超参数的设定方法和意义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72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Microsoft Office PowerPoint</Application>
  <PresentationFormat>宽屏</PresentationFormat>
  <Paragraphs>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可选编程作业：用 Gensim 跑表示学习 &amp; FastText 文本分类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zr z</dc:creator>
  <cp:lastModifiedBy>zr z</cp:lastModifiedBy>
  <cp:revision>1</cp:revision>
  <dcterms:created xsi:type="dcterms:W3CDTF">2026-10-14T09:07:01Z</dcterms:created>
  <dcterms:modified xsi:type="dcterms:W3CDTF">2026-10-14T09:07:09Z</dcterms:modified>
</cp:coreProperties>
</file>